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Revenus annuels (FCFA millions)</c:v>
                </c:pt>
              </c:strCache>
            </c:strRef>
          </c:tx>
          <c:spPr>
            <a:solidFill>
              <a:srgbClr val="E894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94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 1</c:v>
                  </c:pt>
                  <c:pt idx="1">
                    <c:v>An 2</c:v>
                  </c:pt>
                  <c:pt idx="2">
                    <c:v>An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365</c:v>
                </c:pt>
                <c:pt idx="2">
                  <c:v>1120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894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A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A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25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1B4F8A">
              <a:alpha val="18000"/>
            </a:srgbClr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E8941A">
              <a:alpha val="10000"/>
            </a:srgbClr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40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0" kern="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AGTM DIGITAL ACADEMY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LINGUA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i="1" dirty="0">
                <a:solidFill>
                  <a:srgbClr val="E8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Apprenez. Pratiquez. Maîtrisez.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71600" y="3794760"/>
            <a:ext cx="1508760" cy="32004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7947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English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63240" y="3794760"/>
            <a:ext cx="1508760" cy="32004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37947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🇪🇸 Español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3794760"/>
            <a:ext cx="1508760" cy="32004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7947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 Deutsch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46520" y="3794760"/>
            <a:ext cx="1508760" cy="32004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7947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Français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Investisseurs · Avril 2025  |  lingua.africaglobaltraining.com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nous allons vous présenter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023360" cy="713232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54864" cy="71323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17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1600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18013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L'accès aux langues en Afrique subsaharienne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4023360" cy="713232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94560"/>
            <a:ext cx="54864" cy="71323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86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3232" y="2468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26700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 SPACE — Programme 100% digital &amp; IA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4023360" cy="713232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63240"/>
            <a:ext cx="54864" cy="71323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154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3232" y="33375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35387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Corners + 100 modules + Assistant IA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4023360" cy="713232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931920"/>
            <a:ext cx="54864" cy="71323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0233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13232" y="4206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&amp; Opportunité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44074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/ SAM / SOM — Afrique francophone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25880"/>
            <a:ext cx="4023360" cy="713232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325880"/>
            <a:ext cx="54864" cy="71323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1417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10912" y="1600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Revenus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10912" y="18013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Abonnements UNI &amp; ALL ACCESS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46320" y="2194560"/>
            <a:ext cx="4023360" cy="713232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194560"/>
            <a:ext cx="54864" cy="71323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2286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10912" y="2468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Financières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10912" y="26700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sur 3 ans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46320" y="3063240"/>
            <a:ext cx="4023360" cy="713232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063240"/>
            <a:ext cx="54864" cy="71323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3154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10912" y="33375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10912" y="35387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→ V1 → Scale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46320" y="3931920"/>
            <a:ext cx="4023360" cy="713232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931920"/>
            <a:ext cx="54864" cy="71323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40233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10912" y="4206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L'Investissement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10912" y="44074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recherchons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4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 PROBLÈME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marché linguistique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 desservi en Afrique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023360" cy="118872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7373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prohibitif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7568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plateformes internationales (Babbel, Rosetta Stone) sont inaccessibles financièrement pour la majorité des Africains.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1600200"/>
            <a:ext cx="4023360" cy="118872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23560" y="17373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contenu africain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07568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 et Babbel ignorent les accents, contextes culturels et réalités du quotidien en Afrique subsaharienne.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4023360" cy="118872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31546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adapté mobile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4930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solutions existantes nécessitent une connexion stable et sont pensées pour un marché occidental.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3017520"/>
            <a:ext cx="4023360" cy="118872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23560" y="31546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pratique IA réelle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4930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d'assistant IA multilingue intégré permettant de pratiquer le speaking et le listening en temps réel.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2D52"/>
          </a:solidFill>
          <a:ln w="12700">
            <a:solidFill>
              <a:srgbClr val="0D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23360" y="320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4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023360" y="548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LINGUA SPACE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023360" y="11887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100% digital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d'apprentissage des langues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propulsé par l'IA.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77640" y="2377440"/>
            <a:ext cx="201168" cy="201168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235915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langues : Anglais, Espagnol, Allemand, Français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977640" y="2788920"/>
            <a:ext cx="201168" cy="201168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7706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modules structurés par langue (A1 → C2)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77640" y="3200400"/>
            <a:ext cx="201168" cy="201168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318211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audio/vidéo + quiz IA automatiques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77640" y="3611880"/>
            <a:ext cx="201168" cy="201168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359359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 multilingue Claude Sonnet &amp; Opus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77640" y="4023360"/>
            <a:ext cx="201168" cy="201168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400507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installable — accès mobile sans Play Store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77640" y="4434840"/>
            <a:ext cx="201168" cy="201168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441655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 Money (Orange, Wave, MTN)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2880" y="10972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i="1" dirty="0">
                <a:solidFill>
                  <a:srgbClr val="E8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AGTM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i="1" dirty="0">
                <a:solidFill>
                  <a:srgbClr val="E8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LINGUA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i="1" dirty="0">
                <a:solidFill>
                  <a:srgbClr val="E8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8288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lingua.africaglobaltraining.com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🇬🇧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1887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🇪🇸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92024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🇩🇪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65176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🇫🇷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4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LE PRODUIT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4 Language Corners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Corner = Espace d'immersion | Flux audio/vidéo | Quiz IA | 100 modules A1→C2 | Coach IA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920240" cy="342900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1920240" cy="1097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7276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🇬🇧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1214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Corner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&amp; American English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77240" y="2743200"/>
            <a:ext cx="1463040" cy="731520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2491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VOA Learning English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Business &amp; IELTS Prep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321868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News &amp; Podcasts BBC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4480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modules A1 → C2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606040" y="1417320"/>
            <a:ext cx="1920240" cy="342900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06040" y="1417320"/>
            <a:ext cx="1920240" cy="109728"/>
          </a:xfrm>
          <a:prstGeom prst="rect">
            <a:avLst/>
          </a:prstGeom>
          <a:solidFill>
            <a:srgbClr val="F1BF00"/>
          </a:solidFill>
          <a:ln w="12700">
            <a:solidFill>
              <a:srgbClr val="F1B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157276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🇪🇸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697480" y="21214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Rincón Español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97480" y="2423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 Internacional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834640" y="2743200"/>
            <a:ext cx="1463040" cy="731520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272491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Radio Exterior España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743200" y="2971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Espagnol des affaires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43200" y="321868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Préparation DELE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697480" y="4480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modules A1 → C2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663440" y="1417320"/>
            <a:ext cx="1920240" cy="342900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417320"/>
            <a:ext cx="192024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57276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🇩🇪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754880" y="21214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Deutsche Ecke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2423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 für alle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92040" y="2743200"/>
            <a:ext cx="1463040" cy="731520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72491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Deutsche Welle intégré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00600" y="2971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Allemand professionnel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00600" y="321868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Goethe / TestDaF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54880" y="4480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modules A1 → C2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720840" y="1417320"/>
            <a:ext cx="1920240" cy="342900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20840" y="1417320"/>
            <a:ext cx="1920240" cy="109728"/>
          </a:xfrm>
          <a:prstGeom prst="rect">
            <a:avLst/>
          </a:prstGeom>
          <a:solidFill>
            <a:srgbClr val="4A7FBF"/>
          </a:solidFill>
          <a:ln w="12700">
            <a:solidFill>
              <a:srgbClr val="4A7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157276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🇫🇷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812280" y="21214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Francophone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12280" y="2423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Francophonie mondiale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949440" y="2743200"/>
            <a:ext cx="1463040" cy="731520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272491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RFI Savoirs &amp; culture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858000" y="2971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Français des affaires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858000" y="321868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Préparation DELF/DALF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812280" y="4480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modules A1 → C2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4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LE PRODUIT — IA COACH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L'Assistant IA Multilingue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114800" cy="804672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80467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&amp; Listening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4904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→ Claude → TTS. L'utilisateur parle, l'IA corrige et répond.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4114800" cy="804672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48840"/>
            <a:ext cx="54864" cy="80467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1945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bienveillante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4505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erreur corrigée avec explication grammaticale adaptée au niveau CEFR.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4114800" cy="804672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108960"/>
            <a:ext cx="54864" cy="80467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154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Play &amp; Scénarios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4107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 d'embauche, voyage, business... Simulations de situations réelles.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4114800" cy="804672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069080"/>
            <a:ext cx="54864" cy="80467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41148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43708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IELTS, DELF, DELE, TestDaF avec feedback détaillé (plan Premium).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46320" y="1188720"/>
            <a:ext cx="3931920" cy="361188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IA selon l'abonnement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1737360"/>
            <a:ext cx="3566160" cy="1325880"/>
          </a:xfrm>
          <a:prstGeom prst="rect">
            <a:avLst/>
          </a:prstGeom>
          <a:solidFill>
            <a:srgbClr val="1A3050"/>
          </a:solidFill>
          <a:ln w="10160">
            <a:solidFill>
              <a:srgbClr val="E894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18288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LINGUA UNI — Standard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66360" y="20848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Sonnet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66360" y="23591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sessions IA / mois · Free Talk · Business · Travel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0" y="3200400"/>
            <a:ext cx="3566160" cy="1325880"/>
          </a:xfrm>
          <a:prstGeom prst="rect">
            <a:avLst/>
          </a:prstGeom>
          <a:solidFill>
            <a:srgbClr val="1B3A6B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32918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LINGUA ALL ACCESS — Premium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35478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Opus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66360" y="38221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illimitées · Role Play · Exam Prep · 4 langues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4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MARCHÉ &amp; OPPORTUNITÉ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opportunité massive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Afrique francophone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60120" y="960120"/>
            <a:ext cx="3200400" cy="3200400"/>
          </a:xfrm>
          <a:prstGeom prst="ellipse">
            <a:avLst/>
          </a:prstGeom>
          <a:solidFill>
            <a:srgbClr val="1B4F8A">
              <a:alpha val="35000"/>
            </a:srgbClr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417320"/>
            <a:ext cx="2286000" cy="2286000"/>
          </a:xfrm>
          <a:prstGeom prst="ellipse">
            <a:avLst/>
          </a:prstGeom>
          <a:solidFill>
            <a:srgbClr val="1B6070">
              <a:alpha val="35000"/>
            </a:srgbClr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1874520"/>
            <a:ext cx="1371600" cy="1371600"/>
          </a:xfrm>
          <a:prstGeom prst="ellipse">
            <a:avLst/>
          </a:prstGeom>
          <a:solidFill>
            <a:srgbClr val="E8941A">
              <a:alpha val="90000"/>
            </a:srgbClr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109728" cy="109728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850M$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Afrique sub-saharienne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09728" cy="109728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51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8529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120M$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 en ligne Afrique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109728" cy="109728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49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9502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8M$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initiale CI + voisins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03520" y="1325880"/>
            <a:ext cx="3474720" cy="77724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0" y="138988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700M+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766560" y="14447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 en Afrique sub-saharienne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03520" y="2286000"/>
            <a:ext cx="3474720" cy="77724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0" y="23500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766560" y="24048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de moins de 25 ans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0" y="3246120"/>
            <a:ext cx="3474720" cy="77724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0" y="33101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72M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766560" y="33649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 de langues étrangères estimés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03520" y="4206240"/>
            <a:ext cx="3474720" cy="77724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0" y="42702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3ème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766560" y="43251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 mondiale à la croissance EdTech la plus rapide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4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MODÈLE DE REVENUS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forfaits. Une logique simple.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356616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3840480" cy="91440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3898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 UNI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10 000 FCFA / mois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3474720" cy="731520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23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LANGUE AU CHOIX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Anglais OU Espagnol OU Allemand OU Français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" y="32735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Corner (langue choisie)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5753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 modules A1 → C2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3877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Flux audio/vidéo + Quiz 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41788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Claude Sonnet — 30 sessions/mois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4480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 de niveau inclus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4114800" cy="356616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188720"/>
            <a:ext cx="4114800" cy="9144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371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94960" y="1389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 ALL ACCESS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1783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3C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15 000 FCFA / mois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4846320" y="2377440"/>
            <a:ext cx="3749040" cy="731520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LANGUES INCLUSES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Anglais · 🇪🇸 Espagnol · 🇩🇪 Allemand · 🇫🇷 Français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92040" y="32735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Les 4 Corners inclus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35295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400 modules A1 → C2 (4 langues)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378561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Flux illimité + Quiz 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40416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Claude Opus — Sessions illimitées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42976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 Play &amp; Exam Prep inclus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45537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Rapport de progression détaillé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acceptés 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377440" y="4709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Orange Money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931920" y="4709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Wave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0" y="4709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MTN MoMo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40880" y="4709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Carte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4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PROJECTIONS FINANCIÈRES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Revenus prévisionnels — 3 ans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100584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1005840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143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Abonnés cible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560320" cy="100584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54864" cy="1005840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143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2 500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11880" y="162763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Abonnés cible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560320" cy="100584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54864" cy="1005840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143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8 000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46520" y="162763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Abonnés cible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3</a:t>
            </a:r>
            <a:endParaRPr lang="en-US" sz="9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286000"/>
          <a:ext cx="53035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943600" y="2286000"/>
            <a:ext cx="2834640" cy="256032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8076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clés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8076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Mix 60% UNI · 40% ALL ACCESS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080760" y="3136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ARPU moyen : 12 000 FCFA/mois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080760" y="34838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Churn mensuel estimé : 8%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080760" y="38313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Croissance organique + académie AGTM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080760" y="41788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Marché initial : Côte d'Ivoire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80760" y="4526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Extension : SN, CM, BF, ML (An 2)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4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ARCHITECTURE TECHNIQUE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robuste. Évolutive. Sécurisée.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651760" cy="164592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⚛️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591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installable · Mobile-first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651760" cy="164592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0440" y="18745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52044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PostgreSQL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3591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instance AGTM · Schema lingua_*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63640" y="1188720"/>
            <a:ext cx="2651760" cy="164592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18745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40080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3591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(Standard) · Opus (Premium)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" y="3063240"/>
            <a:ext cx="2651760" cy="164592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" y="3749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CinetPay + Flutterwave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2336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Money · Wave · MTN · Carte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83280" y="3063240"/>
            <a:ext cx="2651760" cy="164592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2044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520440" y="3749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5204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+ Cloudflare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0440" y="42336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lingua.africaglobaltraining.com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63640" y="3063240"/>
            <a:ext cx="2651760" cy="164592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0800" y="3749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40080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42336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 · Clés côté serveur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4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FEUILLE DE ROUTE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l'idée au marché en 6 mois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651760" cy="365760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2651760" cy="109728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40080" y="15361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semaines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76072" y="2176272"/>
            <a:ext cx="2505456" cy="731520"/>
          </a:xfrm>
          <a:prstGeom prst="rect">
            <a:avLst/>
          </a:prstGeom>
          <a:solidFill>
            <a:srgbClr val="FFFFFF">
              <a:alpha val="3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212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Setup Netlify + DNS sous-domaine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67512" y="25877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Supabase : tables + RLS + Edge Functions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67512" y="29626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Auth inscription / connexion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67512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CinetPay : Orange Money &amp; Wave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67512" y="371246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English Corner : flux + quiz IA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67512" y="4087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Assistant IA Claude Sonnet (Free Talk)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383280" y="1188720"/>
            <a:ext cx="2651760" cy="365760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1188720"/>
            <a:ext cx="2651760" cy="10972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13716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520440" y="15361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20440" y="1874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semaines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56432" y="2176272"/>
            <a:ext cx="2505456" cy="731520"/>
          </a:xfrm>
          <a:prstGeom prst="rect">
            <a:avLst/>
          </a:prstGeom>
          <a:solidFill>
            <a:srgbClr val="FFFFFF">
              <a:alpha val="3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2212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 autres Corners (ES, DE, FR)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547872" y="25877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100 modules Anglais (10 premiers)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547872" y="29626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Système XP + streak + badges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547872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Rapport hebdo automatique (email)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547872" y="371246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50 bêta-testeurs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263640" y="1188720"/>
            <a:ext cx="2651760" cy="365760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1188720"/>
            <a:ext cx="265176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3716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400800" y="15361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 Complète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00800" y="1874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semaines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336792" y="2176272"/>
            <a:ext cx="2505456" cy="731520"/>
          </a:xfrm>
          <a:prstGeom prst="rect">
            <a:avLst/>
          </a:prstGeom>
          <a:solidFill>
            <a:srgbClr val="FFFFFF">
              <a:alpha val="3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2212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400 modules (4 langues)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428232" y="25877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 Opus : Role Play &amp; Exam Prep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428232" y="29626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Leaderboard mensuel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428232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MTN + Flutterwave (carte)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428232" y="371246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Dashboard admin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428232" y="4087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Extension SN, CM, BF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400" kern="0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L'INVESTISSEMENT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nous recherchons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114800" cy="356616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des fonds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technique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947672"/>
            <a:ext cx="329184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47672"/>
            <a:ext cx="1316736" cy="201168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19476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4505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&amp; modules (4 langues)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660904"/>
            <a:ext cx="329184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660904"/>
            <a:ext cx="822960" cy="20116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266090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1638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acquisition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374136"/>
            <a:ext cx="329184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374136"/>
            <a:ext cx="658368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337413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8770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&amp; infrastructure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4087368"/>
            <a:ext cx="329184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087368"/>
            <a:ext cx="493776" cy="201168"/>
          </a:xfrm>
          <a:prstGeom prst="rect">
            <a:avLst/>
          </a:prstGeom>
          <a:solidFill>
            <a:srgbClr val="8A9AB5"/>
          </a:solidFill>
          <a:ln w="12700">
            <a:solidFill>
              <a:srgbClr val="8A9A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408736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188720"/>
            <a:ext cx="3931920" cy="3566160"/>
          </a:xfrm>
          <a:prstGeom prst="rect">
            <a:avLst/>
          </a:prstGeom>
          <a:solidFill>
            <a:srgbClr val="1325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offrons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755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0" y="17556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au capital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0" y="19842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Quote-part négociable selon l'apport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83480" y="24140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241401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de pionnier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0" y="264261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acteur IA multilingue en Afrique francophone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83480" y="30723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86400" y="307238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récurrents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0" y="33009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SaaS : abonnements mensuels prévisibles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83480" y="37307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86400" y="37307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Potentiel d'expansion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0" y="39593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pays francophones africains à terme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8348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86400" y="43891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Synergie AGTM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0" y="4617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clients existante + marque établie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525"/>
          </a:solidFill>
          <a:ln w="12700">
            <a:solidFill>
              <a:srgbClr val="08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914400"/>
            <a:ext cx="6400800" cy="6400800"/>
          </a:xfrm>
          <a:prstGeom prst="ellipse">
            <a:avLst/>
          </a:prstGeom>
          <a:solidFill>
            <a:srgbClr val="0D2D52">
              <a:alpha val="30000"/>
            </a:srgbClr>
          </a:solidFill>
          <a:ln w="12700">
            <a:solidFill>
              <a:srgbClr val="0D2D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914400"/>
            <a:ext cx="4572000" cy="4572000"/>
          </a:xfrm>
          <a:prstGeom prst="ellipse">
            <a:avLst/>
          </a:prstGeom>
          <a:solidFill>
            <a:srgbClr val="E8941A">
              <a:alpha val="12000"/>
            </a:srgbClr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i="1" dirty="0">
                <a:solidFill>
                  <a:srgbClr val="E8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L'Afrique parle le monde.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AGTM LINGUA SPACE positionne l'AGTM Digital Academy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le leader de l'apprentissage des langues assisté par 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Afrique francophone.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28346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Marché de 72M+ apprenants potentiels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3136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Technologie IA différenciante (Claude Opus &amp; Sonnet)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34381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Modèle SaaS à revenus récurrents en FCFA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373989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Paiement Mobile Money adapté au marché africain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4206240"/>
            <a:ext cx="3291840" cy="548640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0" y="4206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Rejoignez l'aventure LINGUA SPACE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84632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lingua.africaglobaltraining.com  ·  AGTM Digital Academy  ·  Abidjan, Côte d'Ivoire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AGTM LINGUA SPACE — Pitch Investisseurs</dc:title>
  <dc:subject>PptxGenJS Presentation</dc:subject>
  <dc:creator>AGTM Digital Academy</dc:creator>
  <cp:lastModifiedBy>AGTM Digital Academy</cp:lastModifiedBy>
  <cp:revision>1</cp:revision>
  <dcterms:created xsi:type="dcterms:W3CDTF">2026-04-18T11:45:15Z</dcterms:created>
  <dcterms:modified xsi:type="dcterms:W3CDTF">2026-04-18T11:45:15Z</dcterms:modified>
</cp:coreProperties>
</file>