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g"/>
  <Default Extension="png" ContentType="image/png"/>
  <Default Extension="gif" ContentType="image/gif"/>
  <Override PartName="/docProps/app.xml" ContentType="application/vnd.openxmlformats-officedocument.extended-properties+xml"/>
  <Override PartName="/ppt/theme/theme1.xml" ContentType="application/vnd.openxmlformats-officedocument.theme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9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6/13/2013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�#�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102870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3600" b="1" dirty="0" smtClean="0">
                <a:solidFill>
                  <a:srgbClr val="D4A017"/>
                </a:solidFill>
                <a:latin typeface="Arial" pitchFamily="34" charset="0"/>
                <a:cs typeface="Arial" pitchFamily="34" charset="0"/>
              </a:rPr>
              <a:t>AGTM DIGITAL ACADEMY</a:t>
            </a:r>
            <a:endParaRPr lang="en-US"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914400" y="260604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6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L'Anglais pour Tous les Africains</a:t>
            </a:r>
            <a:endParaRPr lang="en-US" sz="1600" dirty="0"/>
          </a:p>
        </p:txBody>
      </p:sp>
      <p:sp>
        <p:nvSpPr>
          <p:cNvPr id="4" name="Object 4"/>
          <p:cNvSpPr txBox="1"/>
          <p:nvPr/>
        </p:nvSpPr>
        <p:spPr>
          <a:xfrm>
            <a:off x="914400" y="315468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6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Plateforme EdTech panafricaine • IA • WhatsApp • Certifiante</a:t>
            </a:r>
            <a:endParaRPr lang="en-US" sz="1600" dirty="0"/>
          </a:p>
        </p:txBody>
      </p:sp>
      <p:sp>
        <p:nvSpPr>
          <p:cNvPr id="5" name="Object 5"/>
          <p:cNvSpPr txBox="1"/>
          <p:nvPr/>
        </p:nvSpPr>
        <p:spPr>
          <a:xfrm>
            <a:off x="914400" y="370332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6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/>
            </a:r>
            <a:endParaRPr lang="en-US" sz="1600" dirty="0"/>
          </a:p>
        </p:txBody>
      </p:sp>
      <p:sp>
        <p:nvSpPr>
          <p:cNvPr id="6" name="Object 6"/>
          <p:cNvSpPr txBox="1"/>
          <p:nvPr/>
        </p:nvSpPr>
        <p:spPr>
          <a:xfrm>
            <a:off x="914400" y="425196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6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Prêt au lancement — En recherche de partenaires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34290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2600" b="1" dirty="0" smtClean="0">
                <a:solidFill>
                  <a:srgbClr val="D4A017"/>
                </a:solidFill>
                <a:latin typeface="Arial" pitchFamily="34" charset="0"/>
                <a:cs typeface="Arial" pitchFamily="34" charset="0"/>
              </a:rPr>
              <a:t>Le Problème &amp; Notre Solution</a:t>
            </a:r>
            <a:endParaRPr lang="en-US" sz="2600" dirty="0"/>
          </a:p>
        </p:txBody>
      </p:sp>
      <p:sp>
        <p:nvSpPr>
          <p:cNvPr id="3" name="Object 3"/>
          <p:cNvSpPr txBox="1"/>
          <p:nvPr/>
        </p:nvSpPr>
        <p:spPr>
          <a:xfrm>
            <a:off x="457200" y="123444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800" b="1" dirty="0" smtClean="0">
                <a:solidFill>
                  <a:srgbClr val="E8B84B"/>
                </a:solidFill>
                <a:latin typeface="Arial" pitchFamily="34" charset="0"/>
                <a:cs typeface="Arial" pitchFamily="34" charset="0"/>
              </a:rPr>
              <a:t>LE PROBLÈME</a:t>
            </a:r>
            <a:endParaRPr lang="en-US" sz="1800" dirty="0"/>
          </a:p>
        </p:txBody>
      </p:sp>
      <p:sp>
        <p:nvSpPr>
          <p:cNvPr id="4" name="Object 4"/>
          <p:cNvSpPr txBox="1"/>
          <p:nvPr/>
        </p:nvSpPr>
        <p:spPr>
          <a:xfrm>
            <a:off x="457200" y="171450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95% des francophones africains sans accès à une formation d'anglais de qualité</a:t>
            </a:r>
            <a:endParaRPr lang="en-US" sz="1400" dirty="0"/>
          </a:p>
        </p:txBody>
      </p:sp>
      <p:sp>
        <p:nvSpPr>
          <p:cNvPr id="5" name="Object 5"/>
          <p:cNvSpPr txBox="1"/>
          <p:nvPr/>
        </p:nvSpPr>
        <p:spPr>
          <a:xfrm>
            <a:off x="457200" y="219456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Écoles rares, chères, inexistantes hors des capitales</a:t>
            </a:r>
            <a:endParaRPr lang="en-US" sz="1400" dirty="0"/>
          </a:p>
        </p:txBody>
      </p:sp>
      <p:sp>
        <p:nvSpPr>
          <p:cNvPr id="6" name="Object 6"/>
          <p:cNvSpPr txBox="1"/>
          <p:nvPr/>
        </p:nvSpPr>
        <p:spPr>
          <a:xfrm>
            <a:off x="457200" y="267462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Plateformes existantes pas adaptées au contexte africain (mobile, WhatsApp, bande passante)</a:t>
            </a:r>
            <a:endParaRPr lang="en-US" sz="1400" dirty="0"/>
          </a:p>
        </p:txBody>
      </p:sp>
      <p:sp>
        <p:nvSpPr>
          <p:cNvPr id="7" name="Object 7"/>
          <p:cNvSpPr txBox="1"/>
          <p:nvPr/>
        </p:nvSpPr>
        <p:spPr>
          <a:xfrm>
            <a:off x="457200" y="315468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/>
            </a:r>
            <a:endParaRPr lang="en-US" sz="1400" dirty="0"/>
          </a:p>
        </p:txBody>
      </p:sp>
      <p:sp>
        <p:nvSpPr>
          <p:cNvPr id="8" name="Object 8"/>
          <p:cNvSpPr txBox="1"/>
          <p:nvPr/>
        </p:nvSpPr>
        <p:spPr>
          <a:xfrm>
            <a:off x="457200" y="363474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800" b="1" dirty="0" smtClean="0">
                <a:solidFill>
                  <a:srgbClr val="E8B84B"/>
                </a:solidFill>
                <a:latin typeface="Arial" pitchFamily="34" charset="0"/>
                <a:cs typeface="Arial" pitchFamily="34" charset="0"/>
              </a:rPr>
              <a:t>NOTRE SOLUTION</a:t>
            </a:r>
            <a:endParaRPr lang="en-US" sz="1800" dirty="0"/>
          </a:p>
        </p:txBody>
      </p:sp>
      <p:sp>
        <p:nvSpPr>
          <p:cNvPr id="9" name="Object 9"/>
          <p:cNvSpPr txBox="1"/>
          <p:nvPr/>
        </p:nvSpPr>
        <p:spPr>
          <a:xfrm>
            <a:off x="457200" y="411480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Plateforme complète avec IA multi-modèles, WhatsApp comme canal principal</a:t>
            </a:r>
            <a:endParaRPr lang="en-US" sz="1400" dirty="0"/>
          </a:p>
        </p:txBody>
      </p:sp>
      <p:sp>
        <p:nvSpPr>
          <p:cNvPr id="10" name="Object 10"/>
          <p:cNvSpPr txBox="1"/>
          <p:nvPr/>
        </p:nvSpPr>
        <p:spPr>
          <a:xfrm>
            <a:off x="457200" y="459486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Préparation TOEIC, TOEFL, BAC, BEPC — examens locaux ET internationaux</a:t>
            </a:r>
            <a:endParaRPr lang="en-US" sz="1400" dirty="0"/>
          </a:p>
        </p:txBody>
      </p:sp>
      <p:sp>
        <p:nvSpPr>
          <p:cNvPr id="11" name="Object 11"/>
          <p:cNvSpPr txBox="1"/>
          <p:nvPr/>
        </p:nvSpPr>
        <p:spPr>
          <a:xfrm>
            <a:off x="457200" y="507492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Interface mobile-first, PWA, fonctionnement hors-ligne partiel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34290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2600" b="1" dirty="0" smtClean="0">
                <a:solidFill>
                  <a:srgbClr val="D4A017"/>
                </a:solidFill>
                <a:latin typeface="Arial" pitchFamily="34" charset="0"/>
                <a:cs typeface="Arial" pitchFamily="34" charset="0"/>
              </a:rPr>
              <a:t>La Plateforme en Chiffres</a:t>
            </a:r>
            <a:endParaRPr lang="en-US" sz="2600" dirty="0"/>
          </a:p>
        </p:txBody>
      </p:sp>
      <p:sp>
        <p:nvSpPr>
          <p:cNvPr id="3" name="Object 3"/>
          <p:cNvSpPr txBox="1"/>
          <p:nvPr/>
        </p:nvSpPr>
        <p:spPr>
          <a:xfrm>
            <a:off x="457200" y="123444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📚 300+ modules pédagogiques (Grammaire, Vocabulaire, Business, Examens)</a:t>
            </a:r>
            <a:endParaRPr lang="en-US" sz="1400" dirty="0"/>
          </a:p>
        </p:txBody>
      </p:sp>
      <p:sp>
        <p:nvSpPr>
          <p:cNvPr id="4" name="Object 4"/>
          <p:cNvSpPr txBox="1"/>
          <p:nvPr/>
        </p:nvSpPr>
        <p:spPr>
          <a:xfrm>
            <a:off x="457200" y="171450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🌍 6 niveaux CECRL (A1 → C2)</a:t>
            </a:r>
            <a:endParaRPr lang="en-US" sz="1400" dirty="0"/>
          </a:p>
        </p:txBody>
      </p:sp>
      <p:sp>
        <p:nvSpPr>
          <p:cNvPr id="5" name="Object 5"/>
          <p:cNvSpPr txBox="1"/>
          <p:nvPr/>
        </p:nvSpPr>
        <p:spPr>
          <a:xfrm>
            <a:off x="457200" y="219456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🎯 20 modules TOEIC + 10 modules TOEFL</a:t>
            </a:r>
            <a:endParaRPr lang="en-US" sz="1400" dirty="0"/>
          </a:p>
        </p:txBody>
      </p:sp>
      <p:sp>
        <p:nvSpPr>
          <p:cNvPr id="6" name="Object 6"/>
          <p:cNvSpPr txBox="1"/>
          <p:nvPr/>
        </p:nvSpPr>
        <p:spPr>
          <a:xfrm>
            <a:off x="457200" y="267462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🏆 9 modules BAC + 9 modules BEPC</a:t>
            </a:r>
            <a:endParaRPr lang="en-US" sz="1400" dirty="0"/>
          </a:p>
        </p:txBody>
      </p:sp>
      <p:sp>
        <p:nvSpPr>
          <p:cNvPr id="7" name="Object 7"/>
          <p:cNvSpPr txBox="1"/>
          <p:nvPr/>
        </p:nvSpPr>
        <p:spPr>
          <a:xfrm>
            <a:off x="457200" y="315468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🤖 4 modèles IA (Claude, DeepSeek, Groq, Mixtral)</a:t>
            </a:r>
            <a:endParaRPr lang="en-US" sz="1400" dirty="0"/>
          </a:p>
        </p:txBody>
      </p:sp>
      <p:sp>
        <p:nvSpPr>
          <p:cNvPr id="8" name="Object 8"/>
          <p:cNvSpPr txBox="1"/>
          <p:nvPr/>
        </p:nvSpPr>
        <p:spPr>
          <a:xfrm>
            <a:off x="457200" y="363474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💬 8 templates WhatsApp Meta approuvés</a:t>
            </a:r>
            <a:endParaRPr lang="en-US" sz="1400" dirty="0"/>
          </a:p>
        </p:txBody>
      </p:sp>
      <p:sp>
        <p:nvSpPr>
          <p:cNvPr id="9" name="Object 9"/>
          <p:cNvSpPr txBox="1"/>
          <p:nvPr/>
        </p:nvSpPr>
        <p:spPr>
          <a:xfrm>
            <a:off x="457200" y="411480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📱 Application PWA installable sur mobile</a:t>
            </a:r>
            <a:endParaRPr lang="en-US" sz="1400" dirty="0"/>
          </a:p>
        </p:txBody>
      </p:sp>
      <p:sp>
        <p:nvSpPr>
          <p:cNvPr id="10" name="Object 10"/>
          <p:cNvSpPr txBox="1"/>
          <p:nvPr/>
        </p:nvSpPr>
        <p:spPr>
          <a:xfrm>
            <a:off x="457200" y="459486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🔐 5 rôles utilisateur (Admin, Formateur, Secrétaire, etc.)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34290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2600" b="1" dirty="0" smtClean="0">
                <a:solidFill>
                  <a:srgbClr val="D4A017"/>
                </a:solidFill>
                <a:latin typeface="Arial" pitchFamily="34" charset="0"/>
                <a:cs typeface="Arial" pitchFamily="34" charset="0"/>
              </a:rPr>
              <a:t>Intelligence Artificielle</a:t>
            </a:r>
            <a:endParaRPr lang="en-US" sz="2600" dirty="0"/>
          </a:p>
        </p:txBody>
      </p:sp>
      <p:sp>
        <p:nvSpPr>
          <p:cNvPr id="3" name="Object 3"/>
          <p:cNvSpPr txBox="1"/>
          <p:nvPr/>
        </p:nvSpPr>
        <p:spPr>
          <a:xfrm>
            <a:off x="457200" y="123444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🧠 Génération automatique de quiz (Cliquez "Générer TOEIC/TOEFL")</a:t>
            </a:r>
            <a:endParaRPr lang="en-US" sz="1400" dirty="0"/>
          </a:p>
        </p:txBody>
      </p:sp>
      <p:sp>
        <p:nvSpPr>
          <p:cNvPr id="4" name="Object 4"/>
          <p:cNvSpPr txBox="1"/>
          <p:nvPr/>
        </p:nvSpPr>
        <p:spPr>
          <a:xfrm>
            <a:off x="457200" y="171450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💬 Assistant pédagogique multi-modèles avec recherche web</a:t>
            </a:r>
            <a:endParaRPr lang="en-US" sz="1400" dirty="0"/>
          </a:p>
        </p:txBody>
      </p:sp>
      <p:sp>
        <p:nvSpPr>
          <p:cNvPr id="5" name="Object 5"/>
          <p:cNvSpPr txBox="1"/>
          <p:nvPr/>
        </p:nvSpPr>
        <p:spPr>
          <a:xfrm>
            <a:off x="457200" y="219456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📝 Correction automatique des évaluations</a:t>
            </a:r>
            <a:endParaRPr lang="en-US" sz="1400" dirty="0"/>
          </a:p>
        </p:txBody>
      </p:sp>
      <p:sp>
        <p:nvSpPr>
          <p:cNvPr id="6" name="Object 6"/>
          <p:cNvSpPr txBox="1"/>
          <p:nvPr/>
        </p:nvSpPr>
        <p:spPr>
          <a:xfrm>
            <a:off x="457200" y="267462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🔐 Permissions IA configurables par utilisateur et par plan</a:t>
            </a:r>
            <a:endParaRPr lang="en-US" sz="1400" dirty="0"/>
          </a:p>
        </p:txBody>
      </p:sp>
      <p:sp>
        <p:nvSpPr>
          <p:cNvPr id="7" name="Object 7"/>
          <p:cNvSpPr txBox="1"/>
          <p:nvPr/>
        </p:nvSpPr>
        <p:spPr>
          <a:xfrm>
            <a:off x="457200" y="315468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🎯 Quiz adaptés au niveau CECRL de l'apprenant</a:t>
            </a:r>
            <a:endParaRPr lang="en-US" sz="1400" dirty="0"/>
          </a:p>
        </p:txBody>
      </p:sp>
      <p:sp>
        <p:nvSpPr>
          <p:cNvPr id="8" name="Object 8"/>
          <p:cNvSpPr txBox="1"/>
          <p:nvPr/>
        </p:nvSpPr>
        <p:spPr>
          <a:xfrm>
            <a:off x="457200" y="363474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📊 Limites de tokens quotidiennes gérables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34290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2600" b="1" dirty="0" smtClean="0">
                <a:solidFill>
                  <a:srgbClr val="D4A017"/>
                </a:solidFill>
                <a:latin typeface="Arial" pitchFamily="34" charset="0"/>
                <a:cs typeface="Arial" pitchFamily="34" charset="0"/>
              </a:rPr>
              <a:t>WhatsApp Academy</a:t>
            </a:r>
            <a:endParaRPr lang="en-US" sz="2600" dirty="0"/>
          </a:p>
        </p:txBody>
      </p:sp>
      <p:sp>
        <p:nvSpPr>
          <p:cNvPr id="3" name="Object 3"/>
          <p:cNvSpPr txBox="1"/>
          <p:nvPr/>
        </p:nvSpPr>
        <p:spPr>
          <a:xfrm>
            <a:off x="457200" y="123444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📱 8 templates Meta Business approuvés avec variables dynamiques</a:t>
            </a:r>
            <a:endParaRPr lang="en-US" sz="1400" dirty="0"/>
          </a:p>
        </p:txBody>
      </p:sp>
      <p:sp>
        <p:nvSpPr>
          <p:cNvPr id="4" name="Object 4"/>
          <p:cNvSpPr txBox="1"/>
          <p:nvPr/>
        </p:nvSpPr>
        <p:spPr>
          <a:xfrm>
            <a:off x="457200" y="171450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🔄 Webhook Twilio entrant → traitement IA → réponse automatique</a:t>
            </a:r>
            <a:endParaRPr lang="en-US" sz="1400" dirty="0"/>
          </a:p>
        </p:txBody>
      </p:sp>
      <p:sp>
        <p:nvSpPr>
          <p:cNvPr id="5" name="Object 5"/>
          <p:cNvSpPr txBox="1"/>
          <p:nvPr/>
        </p:nvSpPr>
        <p:spPr>
          <a:xfrm>
            <a:off x="457200" y="219456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👥 Sélecteur de contacts intelligent selon le template</a:t>
            </a:r>
            <a:endParaRPr lang="en-US" sz="1400" dirty="0"/>
          </a:p>
        </p:txBody>
      </p:sp>
      <p:sp>
        <p:nvSpPr>
          <p:cNvPr id="6" name="Object 6"/>
          <p:cNvSpPr txBox="1"/>
          <p:nvPr/>
        </p:nvSpPr>
        <p:spPr>
          <a:xfrm>
            <a:off x="457200" y="267462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📬 Messages traçables dans le dashboard admin</a:t>
            </a:r>
            <a:endParaRPr lang="en-US" sz="1400" dirty="0"/>
          </a:p>
        </p:txBody>
      </p:sp>
      <p:sp>
        <p:nvSpPr>
          <p:cNvPr id="7" name="Object 7"/>
          <p:cNvSpPr txBox="1"/>
          <p:nvPr/>
        </p:nvSpPr>
        <p:spPr>
          <a:xfrm>
            <a:off x="457200" y="315468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🎯 Templates : Étudiant, Nouveau, Paiement, Devoir, Promo, Certificat, Abonnement, Note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34290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2600" b="1" dirty="0" smtClean="0">
                <a:solidFill>
                  <a:srgbClr val="D4A017"/>
                </a:solidFill>
                <a:latin typeface="Arial" pitchFamily="34" charset="0"/>
                <a:cs typeface="Arial" pitchFamily="34" charset="0"/>
              </a:rPr>
              <a:t>Opportunité de Marché</a:t>
            </a:r>
            <a:endParaRPr lang="en-US" sz="2600" dirty="0"/>
          </a:p>
        </p:txBody>
      </p:sp>
      <p:sp>
        <p:nvSpPr>
          <p:cNvPr id="3" name="Object 3"/>
          <p:cNvSpPr txBox="1"/>
          <p:nvPr/>
        </p:nvSpPr>
        <p:spPr>
          <a:xfrm>
            <a:off x="457200" y="123444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🌍 350M+ francophones en Afrique — marché en croissance</a:t>
            </a:r>
            <a:endParaRPr lang="en-US" sz="1400" dirty="0"/>
          </a:p>
        </p:txBody>
      </p:sp>
      <p:sp>
        <p:nvSpPr>
          <p:cNvPr id="4" name="Object 4"/>
          <p:cNvSpPr txBox="1"/>
          <p:nvPr/>
        </p:nvSpPr>
        <p:spPr>
          <a:xfrm>
            <a:off x="457200" y="171450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📈 EdTech africaine : +35% de croissance annuelle</a:t>
            </a:r>
            <a:endParaRPr lang="en-US" sz="1400" dirty="0"/>
          </a:p>
        </p:txBody>
      </p:sp>
      <p:sp>
        <p:nvSpPr>
          <p:cNvPr id="5" name="Object 5"/>
          <p:cNvSpPr txBox="1"/>
          <p:nvPr/>
        </p:nvSpPr>
        <p:spPr>
          <a:xfrm>
            <a:off x="457200" y="219456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🎓 L'anglais = clé de l'employabilité et des études à l'étranger</a:t>
            </a:r>
            <a:endParaRPr lang="en-US" sz="1400" dirty="0"/>
          </a:p>
        </p:txBody>
      </p:sp>
      <p:sp>
        <p:nvSpPr>
          <p:cNvPr id="6" name="Object 6"/>
          <p:cNvSpPr txBox="1"/>
          <p:nvPr/>
        </p:nvSpPr>
        <p:spPr>
          <a:xfrm>
            <a:off x="457200" y="267462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📱 WhatsApp : 95% de pénétration mobile en Afrique</a:t>
            </a:r>
            <a:endParaRPr lang="en-US" sz="1400" dirty="0"/>
          </a:p>
        </p:txBody>
      </p:sp>
      <p:sp>
        <p:nvSpPr>
          <p:cNvPr id="7" name="Object 7"/>
          <p:cNvSpPr txBox="1"/>
          <p:nvPr/>
        </p:nvSpPr>
        <p:spPr>
          <a:xfrm>
            <a:off x="457200" y="315468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🏗️ Aucun leader panafricain de l'anglais n'a encore émergé</a:t>
            </a:r>
            <a:endParaRPr lang="en-US" sz="1400" dirty="0"/>
          </a:p>
        </p:txBody>
      </p:sp>
      <p:sp>
        <p:nvSpPr>
          <p:cNvPr id="8" name="Object 8"/>
          <p:cNvSpPr txBox="1"/>
          <p:nvPr/>
        </p:nvSpPr>
        <p:spPr>
          <a:xfrm>
            <a:off x="457200" y="363474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💡 L'IA réduit le coût de production de contenu éducatif de 80%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34290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2600" b="1" dirty="0" smtClean="0">
                <a:solidFill>
                  <a:srgbClr val="D4A017"/>
                </a:solidFill>
                <a:latin typeface="Arial" pitchFamily="34" charset="0"/>
                <a:cs typeface="Arial" pitchFamily="34" charset="0"/>
              </a:rPr>
              <a:t>Stack Technique</a:t>
            </a:r>
            <a:endParaRPr lang="en-US" sz="2600" dirty="0"/>
          </a:p>
        </p:txBody>
      </p:sp>
      <p:sp>
        <p:nvSpPr>
          <p:cNvPr id="3" name="Object 3"/>
          <p:cNvSpPr txBox="1"/>
          <p:nvPr/>
        </p:nvSpPr>
        <p:spPr>
          <a:xfrm>
            <a:off x="457200" y="123444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Frontend : React 18 + Vite + Tailwind CSS + PWA</a:t>
            </a:r>
            <a:endParaRPr lang="en-US" sz="1400" dirty="0"/>
          </a:p>
        </p:txBody>
      </p:sp>
      <p:sp>
        <p:nvSpPr>
          <p:cNvPr id="4" name="Object 4"/>
          <p:cNvSpPr txBox="1"/>
          <p:nvPr/>
        </p:nvSpPr>
        <p:spPr>
          <a:xfrm>
            <a:off x="457200" y="171450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Backend : Supabase + PostgreSQL (Row Level Security)</a:t>
            </a:r>
            <a:endParaRPr lang="en-US" sz="1400" dirty="0"/>
          </a:p>
        </p:txBody>
      </p:sp>
      <p:sp>
        <p:nvSpPr>
          <p:cNvPr id="5" name="Object 5"/>
          <p:cNvSpPr txBox="1"/>
          <p:nvPr/>
        </p:nvSpPr>
        <p:spPr>
          <a:xfrm>
            <a:off x="457200" y="219456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Hosting : Netlify (Functions + Edge Functions)</a:t>
            </a:r>
            <a:endParaRPr lang="en-US" sz="1400" dirty="0"/>
          </a:p>
        </p:txBody>
      </p:sp>
      <p:sp>
        <p:nvSpPr>
          <p:cNvPr id="6" name="Object 6"/>
          <p:cNvSpPr txBox="1"/>
          <p:nvPr/>
        </p:nvSpPr>
        <p:spPr>
          <a:xfrm>
            <a:off x="457200" y="267462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IA : Anthropic Claude, DeepSeek, Groq (Llama, Mixtral, Gemma)</a:t>
            </a:r>
            <a:endParaRPr lang="en-US" sz="1400" dirty="0"/>
          </a:p>
        </p:txBody>
      </p:sp>
      <p:sp>
        <p:nvSpPr>
          <p:cNvPr id="7" name="Object 7"/>
          <p:cNvSpPr txBox="1"/>
          <p:nvPr/>
        </p:nvSpPr>
        <p:spPr>
          <a:xfrm>
            <a:off x="457200" y="315468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Recherche : Tavily + Brave Search API</a:t>
            </a:r>
            <a:endParaRPr lang="en-US" sz="1400" dirty="0"/>
          </a:p>
        </p:txBody>
      </p:sp>
      <p:sp>
        <p:nvSpPr>
          <p:cNvPr id="8" name="Object 8"/>
          <p:cNvSpPr txBox="1"/>
          <p:nvPr/>
        </p:nvSpPr>
        <p:spPr>
          <a:xfrm>
            <a:off x="457200" y="363474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Messagerie : Twilio WhatsApp + Meta Cloud API</a:t>
            </a:r>
            <a:endParaRPr lang="en-US" sz="1400" dirty="0"/>
          </a:p>
        </p:txBody>
      </p:sp>
      <p:sp>
        <p:nvSpPr>
          <p:cNvPr id="9" name="Object 9"/>
          <p:cNvSpPr txBox="1"/>
          <p:nvPr/>
        </p:nvSpPr>
        <p:spPr>
          <a:xfrm>
            <a:off x="457200" y="411480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Contenu : YouTube API + Podcasts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34290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2600" b="1" dirty="0" smtClean="0">
                <a:solidFill>
                  <a:srgbClr val="D4A017"/>
                </a:solidFill>
                <a:latin typeface="Arial" pitchFamily="34" charset="0"/>
                <a:cs typeface="Arial" pitchFamily="34" charset="0"/>
              </a:rPr>
              <a:t>Modèle Économique</a:t>
            </a:r>
            <a:endParaRPr lang="en-US" sz="2600" dirty="0"/>
          </a:p>
        </p:txBody>
      </p:sp>
      <p:sp>
        <p:nvSpPr>
          <p:cNvPr id="3" name="Object 3"/>
          <p:cNvSpPr txBox="1"/>
          <p:nvPr/>
        </p:nvSpPr>
        <p:spPr>
          <a:xfrm>
            <a:off x="457200" y="123444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🎓 Abonnement UNI : accès illimité à tous les modules + IA</a:t>
            </a:r>
            <a:endParaRPr lang="en-US" sz="1400" dirty="0"/>
          </a:p>
        </p:txBody>
      </p:sp>
      <p:sp>
        <p:nvSpPr>
          <p:cNvPr id="4" name="Object 4"/>
          <p:cNvSpPr txBox="1"/>
          <p:nvPr/>
        </p:nvSpPr>
        <p:spPr>
          <a:xfrm>
            <a:off x="457200" y="171450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🏆 Formations certifiantes : TOEIC, TOEFL, BAC, BEPC</a:t>
            </a:r>
            <a:endParaRPr lang="en-US" sz="1400" dirty="0"/>
          </a:p>
        </p:txBody>
      </p:sp>
      <p:sp>
        <p:nvSpPr>
          <p:cNvPr id="5" name="Object 5"/>
          <p:cNvSpPr txBox="1"/>
          <p:nvPr/>
        </p:nvSpPr>
        <p:spPr>
          <a:xfrm>
            <a:off x="457200" y="219456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💼 Business English : formules entreprises (B2B)</a:t>
            </a:r>
            <a:endParaRPr lang="en-US" sz="1400" dirty="0"/>
          </a:p>
        </p:txBody>
      </p:sp>
      <p:sp>
        <p:nvSpPr>
          <p:cNvPr id="6" name="Object 6"/>
          <p:cNvSpPr txBox="1"/>
          <p:nvPr/>
        </p:nvSpPr>
        <p:spPr>
          <a:xfrm>
            <a:off x="457200" y="267462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📹 Sessions live : cours en visioconférence avec formateurs</a:t>
            </a:r>
            <a:endParaRPr lang="en-US" sz="1400" dirty="0"/>
          </a:p>
        </p:txBody>
      </p:sp>
      <p:sp>
        <p:nvSpPr>
          <p:cNvPr id="7" name="Object 7"/>
          <p:cNvSpPr txBox="1"/>
          <p:nvPr/>
        </p:nvSpPr>
        <p:spPr>
          <a:xfrm>
            <a:off x="457200" y="315468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14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📊 Rapports financiers automatisés dans le dashboard admin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102870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3600" b="1" dirty="0" smtClean="0">
                <a:solidFill>
                  <a:srgbClr val="D4A017"/>
                </a:solidFill>
                <a:latin typeface="Arial" pitchFamily="34" charset="0"/>
                <a:cs typeface="Arial" pitchFamily="34" charset="0"/>
              </a:rPr>
              <a:t>Nous Contacter</a:t>
            </a:r>
            <a:endParaRPr lang="en-US"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914400" y="260604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6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AGTM Digital Academy</a:t>
            </a:r>
            <a:endParaRPr lang="en-US" sz="1600" dirty="0"/>
          </a:p>
        </p:txBody>
      </p:sp>
      <p:sp>
        <p:nvSpPr>
          <p:cNvPr id="4" name="Object 4"/>
          <p:cNvSpPr txBox="1"/>
          <p:nvPr/>
        </p:nvSpPr>
        <p:spPr>
          <a:xfrm>
            <a:off x="914400" y="315468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6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/>
            </a:r>
            <a:endParaRPr lang="en-US" sz="1600" dirty="0"/>
          </a:p>
        </p:txBody>
      </p:sp>
      <p:sp>
        <p:nvSpPr>
          <p:cNvPr id="5" name="Object 5"/>
          <p:cNvSpPr txBox="1"/>
          <p:nvPr/>
        </p:nvSpPr>
        <p:spPr>
          <a:xfrm>
            <a:off x="914400" y="370332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6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📧 contact@agtm.ci</a:t>
            </a:r>
            <a:endParaRPr lang="en-US" sz="1600" dirty="0"/>
          </a:p>
        </p:txBody>
      </p:sp>
      <p:sp>
        <p:nvSpPr>
          <p:cNvPr id="6" name="Object 6"/>
          <p:cNvSpPr txBox="1"/>
          <p:nvPr/>
        </p:nvSpPr>
        <p:spPr>
          <a:xfrm>
            <a:off x="914400" y="425196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6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📱 +225 07 09 26 98 80</a:t>
            </a:r>
            <a:endParaRPr lang="en-US" sz="1600" dirty="0"/>
          </a:p>
        </p:txBody>
      </p:sp>
      <p:sp>
        <p:nvSpPr>
          <p:cNvPr id="7" name="Object 7"/>
          <p:cNvSpPr txBox="1"/>
          <p:nvPr/>
        </p:nvSpPr>
        <p:spPr>
          <a:xfrm>
            <a:off x="914400" y="480060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6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/>
            </a:r>
            <a:endParaRPr lang="en-US" sz="1600" dirty="0"/>
          </a:p>
        </p:txBody>
      </p:sp>
      <p:sp>
        <p:nvSpPr>
          <p:cNvPr id="8" name="Object 8"/>
          <p:cNvSpPr txBox="1"/>
          <p:nvPr/>
        </p:nvSpPr>
        <p:spPr>
          <a:xfrm>
            <a:off x="914400" y="534924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6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Prêt à scaler — Partenaire recherché</a:t>
            </a:r>
            <a:endParaRPr lang="en-US" sz="1600" dirty="0"/>
          </a:p>
        </p:txBody>
      </p:sp>
      <p:sp>
        <p:nvSpPr>
          <p:cNvPr id="9" name="Object 9"/>
          <p:cNvSpPr txBox="1"/>
          <p:nvPr/>
        </p:nvSpPr>
        <p:spPr>
          <a:xfrm>
            <a:off x="914400" y="589788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6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/>
            </a:r>
            <a:endParaRPr lang="en-US" sz="1600" dirty="0"/>
          </a:p>
        </p:txBody>
      </p:sp>
      <p:sp>
        <p:nvSpPr>
          <p:cNvPr id="10" name="Object 10"/>
          <p:cNvSpPr txBox="1"/>
          <p:nvPr/>
        </p:nvSpPr>
        <p:spPr>
          <a:xfrm>
            <a:off x="914400" y="6446520"/>
            <a:ext cx="2819400" cy="369332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600" dirty="0" smtClean="0">
                <a:solidFill>
                  <a:srgbClr val="8AAAC0"/>
                </a:solidFill>
                <a:latin typeface="Arial" pitchFamily="34" charset="0"/>
                <a:cs typeface="Arial" pitchFamily="34" charset="0"/>
              </a:rPr>
              <a:t>Document généré le 24 avril 2026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officegen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officegen</dc:creator>
  <cp:lastModifiedBy>officegen</cp:lastModifiedBy>
  <cp:revision>1</cp:revision>
  <dcterms:created xsi:type="dcterms:W3CDTF">2026-04-24T17:15:57Z</dcterms:created>
  <dcterms:modified xsi:type="dcterms:W3CDTF">2026-04-24T17:15:57Z</dcterms:modified>
</cp:coreProperties>
</file>